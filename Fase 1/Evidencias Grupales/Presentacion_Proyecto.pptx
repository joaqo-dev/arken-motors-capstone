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8c83e04-d49e-6fac-1c33-fc7dc5db94bc}">
          <p14:sldIdLst>
            <p14:sldId id="256"/>
          </p14:sldIdLst>
        </p14:section>
        <p14:section name="Contexto" id="{5d59d73b-7646-e22b-c6de-adf6885b4bbf}">
          <p14:sldIdLst>
            <p14:sldId id="257"/>
          </p14:sldIdLst>
        </p14:section>
        <p14:section name="Propuesta" id="{c54b504d-d330-6df9-b632-8f860c338fe5}">
          <p14:sldIdLst>
            <p14:sldId id="258"/>
          </p14:sldIdLst>
        </p14:section>
        <p14:section name="Objetivos" id="{a8376ad3-1cea-ebb8-b910-25e1aa99f026}">
          <p14:sldIdLst>
            <p14:sldId id="259"/>
            <p14:sldId id="260"/>
          </p14:sldIdLst>
        </p14:section>
        <p14:section name="Planificación" id="{e725c25f-d3e5-9a64-df8c-720ee30f69a8}">
          <p14:sldIdLst>
            <p14:sldId id="261"/>
            <p14:sldId id="262"/>
            <p14:sldId id="263"/>
            <p14:sldId id="264"/>
          </p14:sldIdLst>
        </p14:section>
        <p14:section name="Cierre" id="{b1ebbec3-28db-7c92-df4c-e512ba75d87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Arken, una plataforma web para automotoras que reúne gestión interna, una página propia por automotora y un marketplace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dolores concretos: margen desconocido, documentos manuales, falta de consolidación entre sucursales y dependencia de portales genéricos.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componentes sobre una única base de datos. El inventario se carga una vez y aparece en la vitrina y en el marketplace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límites son decisiones de diseño deliberadas para acotar el alcance a 14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fases secuenciales; una fase comienza solo cuando la anterior se aprueba. Las fases 1 y 2 están completas.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Arken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Plataforma web multi-empresa para la gestión comercial de automotoras, con vitrina digital propia y marketplace común de vehículos</a:t>
            </a:r>
            <a:endParaRPr lang="en-US" sz="1600" dirty="0"/>
          </a:p>
        </p:txBody>
      </p:sp>
      <p:sp>
        <p:nvSpPr>
          <p:cNvPr id="4" name="Círculo portada"/>
          <p:cNvSpPr/>
          <p:nvPr/>
        </p:nvSpPr>
        <p:spPr>
          <a:xfrm>
            <a:off x="6309360" y="914400"/>
            <a:ext cx="2377440" cy="237744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pic>
        <p:nvPicPr>
          <p:cNvPr id="5" name="Ícono au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08760"/>
            <a:ext cx="1188720" cy="1188720"/>
          </a:xfrm>
          <a:prstGeom prst="rect">
            <a:avLst/>
          </a:prstGeom>
        </p:spPr>
      </p:pic>
      <p:sp>
        <p:nvSpPr>
          <p:cNvPr id="6" name="Datos estudiante"/>
          <p:cNvSpPr txBox="1"/>
          <p:nvPr/>
        </p:nvSpPr>
        <p:spPr>
          <a:xfrm>
            <a:off x="548640" y="3886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Cabrera Macaya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Capstone · Fase 1 · Sección 002D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200" dirty="0"/>
          </a:p>
        </p:txBody>
      </p:sp>
      <p:sp>
        <p:nvSpPr>
          <p:cNvPr id="3" name="Bajada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automotoras pequeñas y medianas llevan su negocio en planillas Excel, cuadernos o sistemas a medida</a:t>
            </a:r>
            <a:endParaRPr lang="en-US" sz="1400" dirty="0"/>
          </a:p>
        </p:txBody>
      </p:sp>
      <p:sp>
        <p:nvSpPr>
          <p:cNvPr id="4" name="Tarjeta problema 1"/>
          <p:cNvSpPr/>
          <p:nvPr/>
        </p:nvSpPr>
        <p:spPr>
          <a:xfrm>
            <a:off x="457200" y="1554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5" name="Problema 1 círculo"/>
          <p:cNvSpPr/>
          <p:nvPr/>
        </p:nvSpPr>
        <p:spPr>
          <a:xfrm>
            <a:off x="685800" y="1920240"/>
            <a:ext cx="685800" cy="68580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pic>
        <p:nvPicPr>
          <p:cNvPr id="6" name="Problema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91690"/>
            <a:ext cx="342900" cy="342900"/>
          </a:xfrm>
          <a:prstGeom prst="rect">
            <a:avLst/>
          </a:prstGeom>
        </p:spPr>
      </p:pic>
      <p:sp>
        <p:nvSpPr>
          <p:cNvPr id="7" name="Título problema 1"/>
          <p:cNvSpPr txBox="1"/>
          <p:nvPr/>
        </p:nvSpPr>
        <p:spPr>
          <a:xfrm>
            <a:off x="1554480" y="1691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conocen la utilidad real de cada auto</a:t>
            </a:r>
            <a:endParaRPr lang="en-US" sz="1450" dirty="0"/>
          </a:p>
        </p:txBody>
      </p:sp>
      <p:sp>
        <p:nvSpPr>
          <p:cNvPr id="8" name="Texto problema 1"/>
          <p:cNvSpPr txBox="1"/>
          <p:nvPr/>
        </p:nvSpPr>
        <p:spPr>
          <a:xfrm>
            <a:off x="1554480" y="22128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gastos de mecánica, pintura y trámites quedan anotados en otro lugar.</a:t>
            </a:r>
            <a:endParaRPr lang="en-US" sz="1250" dirty="0"/>
          </a:p>
        </p:txBody>
      </p:sp>
      <p:sp>
        <p:nvSpPr>
          <p:cNvPr id="9" name="Tarjeta problema 2"/>
          <p:cNvSpPr/>
          <p:nvPr/>
        </p:nvSpPr>
        <p:spPr>
          <a:xfrm>
            <a:off x="4663440" y="1554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0" name="Problema 2 círculo"/>
          <p:cNvSpPr/>
          <p:nvPr/>
        </p:nvSpPr>
        <p:spPr>
          <a:xfrm>
            <a:off x="4892040" y="1920240"/>
            <a:ext cx="685800" cy="68580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pic>
        <p:nvPicPr>
          <p:cNvPr id="11" name="Problema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2091690"/>
            <a:ext cx="342900" cy="342900"/>
          </a:xfrm>
          <a:prstGeom prst="rect">
            <a:avLst/>
          </a:prstGeom>
        </p:spPr>
      </p:pic>
      <p:sp>
        <p:nvSpPr>
          <p:cNvPr id="12" name="Título problema 2"/>
          <p:cNvSpPr txBox="1"/>
          <p:nvPr/>
        </p:nvSpPr>
        <p:spPr>
          <a:xfrm>
            <a:off x="5760720" y="1691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hechos a mano</a:t>
            </a:r>
            <a:endParaRPr lang="en-US" sz="1450" dirty="0"/>
          </a:p>
        </p:txBody>
      </p:sp>
      <p:sp>
        <p:nvSpPr>
          <p:cNvPr id="13" name="Texto problema 2"/>
          <p:cNvSpPr txBox="1"/>
          <p:nvPr/>
        </p:nvSpPr>
        <p:spPr>
          <a:xfrm>
            <a:off x="5760720" y="22128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y reservas sin numeración ordenada ni respaldo en PDF para el cliente.</a:t>
            </a:r>
            <a:endParaRPr lang="en-US" sz="1250" dirty="0"/>
          </a:p>
        </p:txBody>
      </p:sp>
      <p:sp>
        <p:nvSpPr>
          <p:cNvPr id="14" name="Tarjeta problema 3"/>
          <p:cNvSpPr/>
          <p:nvPr/>
        </p:nvSpPr>
        <p:spPr>
          <a:xfrm>
            <a:off x="45720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5" name="Problema 3 círculo"/>
          <p:cNvSpPr/>
          <p:nvPr/>
        </p:nvSpPr>
        <p:spPr>
          <a:xfrm>
            <a:off x="685800" y="3520440"/>
            <a:ext cx="685800" cy="68580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pic>
        <p:nvPicPr>
          <p:cNvPr id="16" name="Problema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691890"/>
            <a:ext cx="342900" cy="342900"/>
          </a:xfrm>
          <a:prstGeom prst="rect">
            <a:avLst/>
          </a:prstGeom>
        </p:spPr>
      </p:pic>
      <p:sp>
        <p:nvSpPr>
          <p:cNvPr id="17" name="Título problema 3"/>
          <p:cNvSpPr txBox="1"/>
          <p:nvPr/>
        </p:nvSpPr>
        <p:spPr>
          <a:xfrm>
            <a:off x="1554480" y="3291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vista consolidada</a:t>
            </a:r>
            <a:endParaRPr lang="en-US" sz="1450" dirty="0"/>
          </a:p>
        </p:txBody>
      </p:sp>
      <p:sp>
        <p:nvSpPr>
          <p:cNvPr id="18" name="Texto problema 3"/>
          <p:cNvSpPr txBox="1"/>
          <p:nvPr/>
        </p:nvSpPr>
        <p:spPr>
          <a:xfrm>
            <a:off x="1554480" y="3813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varias sucursales, cada una lleva sus registros por separado y el dueño no ve el total.</a:t>
            </a:r>
            <a:endParaRPr lang="en-US" sz="1250" dirty="0"/>
          </a:p>
        </p:txBody>
      </p:sp>
      <p:sp>
        <p:nvSpPr>
          <p:cNvPr id="19" name="Tarjeta problema 4"/>
          <p:cNvSpPr/>
          <p:nvPr/>
        </p:nvSpPr>
        <p:spPr>
          <a:xfrm>
            <a:off x="466344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20" name="Problema 4 círculo"/>
          <p:cNvSpPr/>
          <p:nvPr/>
        </p:nvSpPr>
        <p:spPr>
          <a:xfrm>
            <a:off x="4892040" y="3520440"/>
            <a:ext cx="685800" cy="68580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pic>
        <p:nvPicPr>
          <p:cNvPr id="21" name="Problema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691890"/>
            <a:ext cx="342900" cy="342900"/>
          </a:xfrm>
          <a:prstGeom prst="rect">
            <a:avLst/>
          </a:prstGeom>
        </p:spPr>
      </p:pic>
      <p:sp>
        <p:nvSpPr>
          <p:cNvPr id="22" name="Título problema 4"/>
          <p:cNvSpPr txBox="1"/>
          <p:nvPr/>
        </p:nvSpPr>
        <p:spPr>
          <a:xfrm>
            <a:off x="5760720" y="3291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de portales genéricos</a:t>
            </a:r>
            <a:endParaRPr lang="en-US" sz="1450" dirty="0"/>
          </a:p>
        </p:txBody>
      </p:sp>
      <p:sp>
        <p:nvSpPr>
          <p:cNvPr id="23" name="Texto problema 4"/>
          <p:cNvSpPr txBox="1"/>
          <p:nvPr/>
        </p:nvSpPr>
        <p:spPr>
          <a:xfrm>
            <a:off x="5760720" y="3813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Publican auto por auto en sitios de avisos, sin una página propia que muestre su marca.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propuesta</a:t>
            </a:r>
            <a:endParaRPr lang="en-US" sz="3200" dirty="0"/>
          </a:p>
        </p:txBody>
      </p:sp>
      <p:sp>
        <p:nvSpPr>
          <p:cNvPr id="3" name="Componente 1"/>
          <p:cNvSpPr/>
          <p:nvPr/>
        </p:nvSpPr>
        <p:spPr>
          <a:xfrm>
            <a:off x="457200" y="114300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4" name="Componente 1 círculo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5" name="Componente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85900"/>
            <a:ext cx="320040" cy="320040"/>
          </a:xfrm>
          <a:prstGeom prst="rect">
            <a:avLst/>
          </a:prstGeom>
        </p:spPr>
      </p:pic>
      <p:sp>
        <p:nvSpPr>
          <p:cNvPr id="6" name="Título componente 1"/>
          <p:cNvSpPr txBox="1"/>
          <p:nvPr/>
        </p:nvSpPr>
        <p:spPr>
          <a:xfrm>
            <a:off x="141732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1600" dirty="0"/>
          </a:p>
        </p:txBody>
      </p:sp>
      <p:sp>
        <p:nvSpPr>
          <p:cNvPr id="7" name="Texto componente 1"/>
          <p:cNvSpPr txBox="1"/>
          <p:nvPr/>
        </p:nvSpPr>
        <p:spPr>
          <a:xfrm>
            <a:off x="64008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interno con 18 módulos: inventario, clientes, cotizaciones, reservas, tasaciones, ventas, gastos, analítica y auditoría.</a:t>
            </a:r>
            <a:endParaRPr lang="en-US" sz="1250" dirty="0"/>
          </a:p>
        </p:txBody>
      </p:sp>
      <p:sp>
        <p:nvSpPr>
          <p:cNvPr id="8" name="Componente 2"/>
          <p:cNvSpPr/>
          <p:nvPr/>
        </p:nvSpPr>
        <p:spPr>
          <a:xfrm>
            <a:off x="3264408" y="114300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9" name="Componente 2 círculo"/>
          <p:cNvSpPr/>
          <p:nvPr/>
        </p:nvSpPr>
        <p:spPr>
          <a:xfrm>
            <a:off x="3447288" y="132588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0" name="Componente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1485900"/>
            <a:ext cx="320040" cy="320040"/>
          </a:xfrm>
          <a:prstGeom prst="rect">
            <a:avLst/>
          </a:prstGeom>
        </p:spPr>
      </p:pic>
      <p:sp>
        <p:nvSpPr>
          <p:cNvPr id="11" name="Título componente 2"/>
          <p:cNvSpPr txBox="1"/>
          <p:nvPr/>
        </p:nvSpPr>
        <p:spPr>
          <a:xfrm>
            <a:off x="4224528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propia</a:t>
            </a:r>
            <a:endParaRPr lang="en-US" sz="1600" dirty="0"/>
          </a:p>
        </p:txBody>
      </p:sp>
      <p:sp>
        <p:nvSpPr>
          <p:cNvPr id="12" name="Texto componente 2"/>
          <p:cNvSpPr txBox="1"/>
          <p:nvPr/>
        </p:nvSpPr>
        <p:spPr>
          <a:xfrm>
            <a:off x="3447288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de cada automotora en su subdominio, con logo, sucursales, contacto por WhatsApp y SEO.</a:t>
            </a:r>
            <a:endParaRPr lang="en-US" sz="1250" dirty="0"/>
          </a:p>
        </p:txBody>
      </p:sp>
      <p:sp>
        <p:nvSpPr>
          <p:cNvPr id="13" name="Componente 3"/>
          <p:cNvSpPr/>
          <p:nvPr/>
        </p:nvSpPr>
        <p:spPr>
          <a:xfrm>
            <a:off x="6071616" y="114300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4" name="Componente 3 círculo"/>
          <p:cNvSpPr/>
          <p:nvPr/>
        </p:nvSpPr>
        <p:spPr>
          <a:xfrm>
            <a:off x="6254496" y="132588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5" name="Componente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1485900"/>
            <a:ext cx="320040" cy="320040"/>
          </a:xfrm>
          <a:prstGeom prst="rect">
            <a:avLst/>
          </a:prstGeom>
        </p:spPr>
      </p:pic>
      <p:sp>
        <p:nvSpPr>
          <p:cNvPr id="16" name="Título componente 3"/>
          <p:cNvSpPr txBox="1"/>
          <p:nvPr/>
        </p:nvSpPr>
        <p:spPr>
          <a:xfrm>
            <a:off x="7031736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común</a:t>
            </a:r>
            <a:endParaRPr lang="en-US" sz="1600" dirty="0"/>
          </a:p>
        </p:txBody>
      </p:sp>
      <p:sp>
        <p:nvSpPr>
          <p:cNvPr id="17" name="Texto componente 3"/>
          <p:cNvSpPr txBox="1"/>
          <p:nvPr/>
        </p:nvSpPr>
        <p:spPr>
          <a:xfrm>
            <a:off x="6254496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anónimo de autos y motos con la oferta de todas las automotoras, con filtros dinámicos.</a:t>
            </a:r>
            <a:endParaRPr lang="en-US" sz="1250" dirty="0"/>
          </a:p>
        </p:txBody>
      </p:sp>
      <p:sp>
        <p:nvSpPr>
          <p:cNvPr id="18" name="Cifra módulos"/>
          <p:cNvSpPr txBox="1"/>
          <p:nvPr/>
        </p:nvSpPr>
        <p:spPr>
          <a:xfrm>
            <a:off x="45720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9" name="Etiqueta módulos"/>
          <p:cNvSpPr txBox="1"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200" dirty="0"/>
          </a:p>
        </p:txBody>
      </p:sp>
      <p:sp>
        <p:nvSpPr>
          <p:cNvPr id="20" name="Cifra tablas"/>
          <p:cNvSpPr txBox="1"/>
          <p:nvPr/>
        </p:nvSpPr>
        <p:spPr>
          <a:xfrm>
            <a:off x="256032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400" dirty="0"/>
          </a:p>
        </p:txBody>
      </p:sp>
      <p:sp>
        <p:nvSpPr>
          <p:cNvPr id="21" name="Etiqueta tablas"/>
          <p:cNvSpPr txBox="1"/>
          <p:nvPr/>
        </p:nvSpPr>
        <p:spPr>
          <a:xfrm>
            <a:off x="25603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200" dirty="0"/>
          </a:p>
        </p:txBody>
      </p:sp>
      <p:sp>
        <p:nvSpPr>
          <p:cNvPr id="22" name="Cifra roles"/>
          <p:cNvSpPr txBox="1"/>
          <p:nvPr/>
        </p:nvSpPr>
        <p:spPr>
          <a:xfrm>
            <a:off x="466344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Etiqueta roles"/>
          <p:cNvSpPr txBox="1"/>
          <p:nvPr/>
        </p:nvSpPr>
        <p:spPr>
          <a:xfrm>
            <a:off x="46634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24" name="Cifra pruebas automatizadas"/>
          <p:cNvSpPr txBox="1"/>
          <p:nvPr/>
        </p:nvSpPr>
        <p:spPr>
          <a:xfrm>
            <a:off x="676656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3400" dirty="0"/>
          </a:p>
        </p:txBody>
      </p:sp>
      <p:sp>
        <p:nvSpPr>
          <p:cNvPr id="25" name="Etiqueta pruebas automatizadas"/>
          <p:cNvSpPr txBox="1"/>
          <p:nvPr/>
        </p:nvSpPr>
        <p:spPr>
          <a:xfrm>
            <a:off x="67665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200" dirty="0"/>
          </a:p>
        </p:txBody>
      </p:sp>
      <p:sp>
        <p:nvSpPr>
          <p:cNvPr id="26" name="Nota inventario"/>
          <p:cNvSpPr txBox="1"/>
          <p:nvPr/>
        </p:nvSpPr>
        <p:spPr>
          <a:xfrm>
            <a:off x="45720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se carga una sola vez y alimenta los tres canales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3" name="Tarjeta objetivo general"/>
          <p:cNvSpPr/>
          <p:nvPr/>
        </p:nvSpPr>
        <p:spPr>
          <a:xfrm>
            <a:off x="457200" y="128016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4" name="Objetivo círculo"/>
          <p:cNvSpPr/>
          <p:nvPr/>
        </p:nvSpPr>
        <p:spPr>
          <a:xfrm>
            <a:off x="822960" y="1965960"/>
            <a:ext cx="1005840" cy="10058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5" name="Objetiv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17420"/>
            <a:ext cx="502920" cy="502920"/>
          </a:xfrm>
          <a:prstGeom prst="rect">
            <a:avLst/>
          </a:prstGeom>
        </p:spPr>
      </p:pic>
      <p:sp>
        <p:nvSpPr>
          <p:cNvPr id="6" name="Texto objetivo general"/>
          <p:cNvSpPr txBox="1"/>
          <p:nvPr/>
        </p:nvSpPr>
        <p:spPr>
          <a:xfrm>
            <a:off x="2194560" y="150876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plataforma web multi-empresa que centralice la gestión comercial de automotoras y publique automáticamente su inventario en una vitrina propia y en un marketplace común</a:t>
            </a:r>
            <a:endParaRPr lang="en-US" sz="2100" dirty="0"/>
          </a:p>
        </p:txBody>
      </p:sp>
      <p:sp>
        <p:nvSpPr>
          <p:cNvPr id="7" name="Aclaración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Multi-empresa: muchas automotoras en una misma instalación, cada una ve solo sus datos · Multi-sucursal: varios locales por automotora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3" name="Objetivo 1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4" name="Número 1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5" name="Cifra objetivo 1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ítulo objetivo 1"/>
          <p:cNvSpPr txBox="1"/>
          <p:nvPr/>
        </p:nvSpPr>
        <p:spPr>
          <a:xfrm>
            <a:off x="1280160" y="1325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la gestión comercial</a:t>
            </a:r>
            <a:endParaRPr lang="en-US" sz="1500" dirty="0"/>
          </a:p>
        </p:txBody>
      </p:sp>
      <p:sp>
        <p:nvSpPr>
          <p:cNvPr id="7" name="Plazo objetivo 1"/>
          <p:cNvSpPr txBox="1"/>
          <p:nvPr/>
        </p:nvSpPr>
        <p:spPr>
          <a:xfrm>
            <a:off x="3383280" y="1389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</a:t>
            </a:r>
            <a:endParaRPr lang="en-US" sz="1100" dirty="0"/>
          </a:p>
        </p:txBody>
      </p:sp>
      <p:sp>
        <p:nvSpPr>
          <p:cNvPr id="8" name="Meta objetivo 1"/>
          <p:cNvSpPr txBox="1"/>
          <p:nvPr/>
        </p:nvSpPr>
        <p:spPr>
          <a:xfrm>
            <a:off x="640080" y="19476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módulos y ciclo completo vehículo, cotización, reserva y venta con PDF: 30 vehículos y 20 documentos con folio</a:t>
            </a:r>
            <a:endParaRPr lang="en-US" sz="1250" dirty="0"/>
          </a:p>
        </p:txBody>
      </p:sp>
      <p:sp>
        <p:nvSpPr>
          <p:cNvPr id="9" name="Objetivo 2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0" name="Número 2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1" name="Cifra objetivo 2"/>
          <p:cNvSpPr txBox="1"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ítulo objetivo 2"/>
          <p:cNvSpPr txBox="1"/>
          <p:nvPr/>
        </p:nvSpPr>
        <p:spPr>
          <a:xfrm>
            <a:off x="5486400" y="1325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oferta automáticamente</a:t>
            </a:r>
            <a:endParaRPr lang="en-US" sz="1500" dirty="0"/>
          </a:p>
        </p:txBody>
      </p:sp>
      <p:sp>
        <p:nvSpPr>
          <p:cNvPr id="13" name="Plazo objetivo 2"/>
          <p:cNvSpPr txBox="1"/>
          <p:nvPr/>
        </p:nvSpPr>
        <p:spPr>
          <a:xfrm>
            <a:off x="7589520" y="1389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</a:t>
            </a:r>
            <a:endParaRPr lang="en-US" sz="1100" dirty="0"/>
          </a:p>
        </p:txBody>
      </p:sp>
      <p:sp>
        <p:nvSpPr>
          <p:cNvPr id="14" name="Meta objetivo 2"/>
          <p:cNvSpPr txBox="1"/>
          <p:nvPr/>
        </p:nvSpPr>
        <p:spPr>
          <a:xfrm>
            <a:off x="4846320" y="19476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los autos disponibles en vitrina y marketplace, sin exponer datos internos, con 2 automotoras de prueba</a:t>
            </a:r>
            <a:endParaRPr lang="en-US" sz="1250" dirty="0"/>
          </a:p>
        </p:txBody>
      </p:sp>
      <p:sp>
        <p:nvSpPr>
          <p:cNvPr id="15" name="Objetivo 3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6" name="Número 3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7" name="Cifra objetivo 3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ítulo objetivo 3"/>
          <p:cNvSpPr txBox="1"/>
          <p:nvPr/>
        </p:nvSpPr>
        <p:spPr>
          <a:xfrm>
            <a:off x="128016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indicadores de decisión</a:t>
            </a:r>
            <a:endParaRPr lang="en-US" sz="1500" dirty="0"/>
          </a:p>
        </p:txBody>
      </p:sp>
      <p:sp>
        <p:nvSpPr>
          <p:cNvPr id="19" name="Plazo objetivo 3"/>
          <p:cNvSpPr txBox="1"/>
          <p:nvPr/>
        </p:nvSpPr>
        <p:spPr>
          <a:xfrm>
            <a:off x="3383280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</a:t>
            </a:r>
            <a:endParaRPr lang="en-US" sz="1100" dirty="0"/>
          </a:p>
        </p:txBody>
      </p:sp>
      <p:sp>
        <p:nvSpPr>
          <p:cNvPr id="20" name="Meta objetivo 3"/>
          <p:cNvSpPr txBox="1"/>
          <p:nvPr/>
        </p:nvSpPr>
        <p:spPr>
          <a:xfrm>
            <a:off x="64008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y analítica con 10 o más indicadores, contrastados sin diferencias con un cálculo manual</a:t>
            </a:r>
            <a:endParaRPr lang="en-US" sz="1250" dirty="0"/>
          </a:p>
        </p:txBody>
      </p:sp>
      <p:sp>
        <p:nvSpPr>
          <p:cNvPr id="21" name="Objetivo 4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22" name="Número 4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23" name="Cifra objetivo 4"/>
          <p:cNvSpPr txBox="1"/>
          <p:nvPr/>
        </p:nvSpPr>
        <p:spPr>
          <a:xfrm>
            <a:off x="48463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ítulo objetivo 4"/>
          <p:cNvSpPr txBox="1"/>
          <p:nvPr/>
        </p:nvSpPr>
        <p:spPr>
          <a:xfrm>
            <a:off x="548640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calidad y producción</a:t>
            </a:r>
            <a:endParaRPr lang="en-US" sz="1500" dirty="0"/>
          </a:p>
        </p:txBody>
      </p:sp>
      <p:sp>
        <p:nvSpPr>
          <p:cNvPr id="25" name="Plazo objetivo 4"/>
          <p:cNvSpPr txBox="1"/>
          <p:nvPr/>
        </p:nvSpPr>
        <p:spPr>
          <a:xfrm>
            <a:off x="7589520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</a:t>
            </a:r>
            <a:endParaRPr lang="en-US" sz="1100" dirty="0"/>
          </a:p>
        </p:txBody>
      </p:sp>
      <p:sp>
        <p:nvSpPr>
          <p:cNvPr id="26" name="Meta objetivo 4"/>
          <p:cNvSpPr txBox="1"/>
          <p:nvPr/>
        </p:nvSpPr>
        <p:spPr>
          <a:xfrm>
            <a:off x="484632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pruebas aprobadas, aislamiento de datos y roles verificado, despliegue con HTTPS y respaldo diario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Alcances y límites</a:t>
            </a:r>
            <a:endParaRPr lang="en-US" sz="3200" dirty="0"/>
          </a:p>
        </p:txBody>
      </p:sp>
      <p:sp>
        <p:nvSpPr>
          <p:cNvPr id="3" name="Columna Incluye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4" name="Incluye círculo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5" name="Incluye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6" name="Título Incluye"/>
          <p:cNvSpPr txBox="1"/>
          <p:nvPr/>
        </p:nvSpPr>
        <p:spPr>
          <a:xfrm>
            <a:off x="137160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800" dirty="0"/>
          </a:p>
        </p:txBody>
      </p:sp>
      <p:sp>
        <p:nvSpPr>
          <p:cNvPr id="7" name="Lista Incluye"/>
          <p:cNvSpPr txBox="1"/>
          <p:nvPr/>
        </p:nvSpPr>
        <p:spPr>
          <a:xfrm>
            <a:off x="73152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módulos de gestión con 3 roles fijos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propia por subdominio y marketplace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PDF y correos automáticos al cliente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analítica y auditoría inmutable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producción con HTTPS y respaldos</a:t>
            </a:r>
            <a:endParaRPr lang="en-US" sz="1400" dirty="0"/>
          </a:p>
        </p:txBody>
      </p:sp>
      <p:sp>
        <p:nvSpPr>
          <p:cNvPr id="8" name="Columna No incluye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9" name="No incluye círculo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B5483B"/>
          </a:solidFill>
          <a:ln w="12700">
            <a:solidFill>
              <a:srgbClr val="B5483B"/>
            </a:solidFill>
            <a:prstDash val="solid"/>
          </a:ln>
        </p:spPr>
      </p:sp>
      <p:pic>
        <p:nvPicPr>
          <p:cNvPr id="10" name="No incluye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274320" cy="274320"/>
          </a:xfrm>
          <a:prstGeom prst="rect">
            <a:avLst/>
          </a:prstGeom>
        </p:spPr>
      </p:pic>
      <p:sp>
        <p:nvSpPr>
          <p:cNvPr id="11" name="Título No incluye"/>
          <p:cNvSpPr txBox="1"/>
          <p:nvPr/>
        </p:nvSpPr>
        <p:spPr>
          <a:xfrm>
            <a:off x="557784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</a:t>
            </a:r>
            <a:endParaRPr lang="en-US" sz="1800" dirty="0"/>
          </a:p>
        </p:txBody>
      </p:sp>
      <p:sp>
        <p:nvSpPr>
          <p:cNvPr id="12" name="Lista No incluye"/>
          <p:cNvSpPr txBox="1"/>
          <p:nvPr/>
        </p:nvSpPr>
        <p:spPr>
          <a:xfrm>
            <a:off x="493776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cobro a las automotoras (proyecto académico)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anónimo, sin cuenta ni favoritos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inventario manual, sin importar Excel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fotografías (1 a 30), sin video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automotora de demostración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modelo en cascada</a:t>
            </a:r>
            <a:endParaRPr lang="en-US" sz="3200" dirty="0"/>
          </a:p>
        </p:txBody>
      </p:sp>
      <p:sp>
        <p:nvSpPr>
          <p:cNvPr id="3" name="Fase 1"/>
          <p:cNvSpPr/>
          <p:nvPr/>
        </p:nvSpPr>
        <p:spPr>
          <a:xfrm>
            <a:off x="457200" y="12344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4" name="Texto fase 1"/>
          <p:cNvSpPr txBox="1"/>
          <p:nvPr/>
        </p:nvSpPr>
        <p:spPr>
          <a:xfrm>
            <a:off x="548640" y="13075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requisitos</a:t>
            </a:r>
            <a:endParaRPr lang="en-US" sz="1000" dirty="0"/>
          </a:p>
        </p:txBody>
      </p:sp>
      <p:sp>
        <p:nvSpPr>
          <p:cNvPr id="5" name="Hito fase 1"/>
          <p:cNvSpPr txBox="1"/>
          <p:nvPr/>
        </p:nvSpPr>
        <p:spPr>
          <a:xfrm>
            <a:off x="457200" y="2148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Especificación congelada</a:t>
            </a:r>
            <a:endParaRPr lang="en-US" sz="1050" dirty="0"/>
          </a:p>
        </p:txBody>
      </p:sp>
      <p:sp>
        <p:nvSpPr>
          <p:cNvPr id="6" name="Flecha 1"/>
          <p:cNvSpPr/>
          <p:nvPr/>
        </p:nvSpPr>
        <p:spPr>
          <a:xfrm>
            <a:off x="2011680" y="1600200"/>
            <a:ext cx="128016" cy="256032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Fase 2"/>
          <p:cNvSpPr/>
          <p:nvPr/>
        </p:nvSpPr>
        <p:spPr>
          <a:xfrm>
            <a:off x="2139696" y="1618488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8" name="Texto fase 2"/>
          <p:cNvSpPr txBox="1"/>
          <p:nvPr/>
        </p:nvSpPr>
        <p:spPr>
          <a:xfrm>
            <a:off x="2231136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00" dirty="0"/>
          </a:p>
        </p:txBody>
      </p:sp>
      <p:sp>
        <p:nvSpPr>
          <p:cNvPr id="9" name="Hito fase 2"/>
          <p:cNvSpPr txBox="1"/>
          <p:nvPr/>
        </p:nvSpPr>
        <p:spPr>
          <a:xfrm>
            <a:off x="2139696" y="25328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Modelo de datos y arquitectura</a:t>
            </a:r>
            <a:endParaRPr lang="en-US" sz="1050" dirty="0"/>
          </a:p>
        </p:txBody>
      </p:sp>
      <p:sp>
        <p:nvSpPr>
          <p:cNvPr id="10" name="Flecha 2"/>
          <p:cNvSpPr/>
          <p:nvPr/>
        </p:nvSpPr>
        <p:spPr>
          <a:xfrm>
            <a:off x="3694176" y="1984248"/>
            <a:ext cx="128016" cy="256032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Fase 3"/>
          <p:cNvSpPr/>
          <p:nvPr/>
        </p:nvSpPr>
        <p:spPr>
          <a:xfrm>
            <a:off x="3822192" y="2002536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2" name="Texto fase 3"/>
          <p:cNvSpPr txBox="1"/>
          <p:nvPr/>
        </p:nvSpPr>
        <p:spPr>
          <a:xfrm>
            <a:off x="3913632" y="20756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000" dirty="0"/>
          </a:p>
        </p:txBody>
      </p:sp>
      <p:sp>
        <p:nvSpPr>
          <p:cNvPr id="13" name="Hito fase 3"/>
          <p:cNvSpPr txBox="1"/>
          <p:nvPr/>
        </p:nvSpPr>
        <p:spPr>
          <a:xfrm>
            <a:off x="3822192" y="29169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Sistema completo en desarrollo</a:t>
            </a:r>
            <a:endParaRPr lang="en-US" sz="1050" dirty="0"/>
          </a:p>
        </p:txBody>
      </p:sp>
      <p:sp>
        <p:nvSpPr>
          <p:cNvPr id="14" name="Flecha 3"/>
          <p:cNvSpPr/>
          <p:nvPr/>
        </p:nvSpPr>
        <p:spPr>
          <a:xfrm>
            <a:off x="5376672" y="2368296"/>
            <a:ext cx="128016" cy="256032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Fase 4"/>
          <p:cNvSpPr/>
          <p:nvPr/>
        </p:nvSpPr>
        <p:spPr>
          <a:xfrm>
            <a:off x="5504688" y="238658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6" name="Texto fase 4"/>
          <p:cNvSpPr txBox="1"/>
          <p:nvPr/>
        </p:nvSpPr>
        <p:spPr>
          <a:xfrm>
            <a:off x="5596128" y="245973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00" dirty="0"/>
          </a:p>
        </p:txBody>
      </p:sp>
      <p:sp>
        <p:nvSpPr>
          <p:cNvPr id="17" name="Hito fase 4"/>
          <p:cNvSpPr txBox="1"/>
          <p:nvPr/>
        </p:nvSpPr>
        <p:spPr>
          <a:xfrm>
            <a:off x="5504688" y="33009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Informe de pruebas</a:t>
            </a:r>
            <a:endParaRPr lang="en-US" sz="1050" dirty="0"/>
          </a:p>
        </p:txBody>
      </p:sp>
      <p:sp>
        <p:nvSpPr>
          <p:cNvPr id="18" name="Flecha 4"/>
          <p:cNvSpPr/>
          <p:nvPr/>
        </p:nvSpPr>
        <p:spPr>
          <a:xfrm>
            <a:off x="7059168" y="2752344"/>
            <a:ext cx="128016" cy="256032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Fase 5"/>
          <p:cNvSpPr/>
          <p:nvPr/>
        </p:nvSpPr>
        <p:spPr>
          <a:xfrm>
            <a:off x="7187184" y="2770632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20" name="Texto fase 5"/>
          <p:cNvSpPr txBox="1"/>
          <p:nvPr/>
        </p:nvSpPr>
        <p:spPr>
          <a:xfrm>
            <a:off x="7278624" y="284378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cierre</a:t>
            </a:r>
            <a:endParaRPr lang="en-US" sz="1000" dirty="0"/>
          </a:p>
        </p:txBody>
      </p:sp>
      <p:sp>
        <p:nvSpPr>
          <p:cNvPr id="21" name="Hito fase 5"/>
          <p:cNvSpPr txBox="1"/>
          <p:nvPr/>
        </p:nvSpPr>
        <p:spPr>
          <a:xfrm>
            <a:off x="7187184" y="36850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Producción y manuales</a:t>
            </a:r>
            <a:endParaRPr lang="en-US" sz="1050" dirty="0"/>
          </a:p>
        </p:txBody>
      </p:sp>
      <p:sp>
        <p:nvSpPr>
          <p:cNvPr id="22" name="Justificación"/>
          <p:cNvSpPr txBox="1"/>
          <p:nvPr/>
        </p:nvSpPr>
        <p:spPr>
          <a:xfrm>
            <a:off x="457200" y="3794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cascada? </a:t>
            </a:r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están definidos y documentados en detalle y el alcance está acotado, lo que permite avanzar fase por fase con entregables formales, hitos de aprobación y control de cambios.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</a:t>
            </a:r>
            <a:endParaRPr lang="en-US" sz="3200" dirty="0"/>
          </a:p>
        </p:txBody>
      </p:sp>
      <p:sp>
        <p:nvSpPr>
          <p:cNvPr id="3" name="Tecnología Backend (API)"/>
          <p:cNvSpPr/>
          <p:nvPr/>
        </p:nvSpPr>
        <p:spPr>
          <a:xfrm>
            <a:off x="457200" y="10972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4" name="Backend (API) círculo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5" name="Backend (API)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Título Backend (API)"/>
          <p:cNvSpPr txBox="1"/>
          <p:nvPr/>
        </p:nvSpPr>
        <p:spPr>
          <a:xfrm>
            <a:off x="132588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7" name="Detalle Backend (API)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· TypeScript · NestJS 10 · SQL con pg, sin ORM · argon2 · JWT · Jest</a:t>
            </a:r>
            <a:endParaRPr lang="en-US" sz="1200" dirty="0"/>
          </a:p>
        </p:txBody>
      </p:sp>
      <p:sp>
        <p:nvSpPr>
          <p:cNvPr id="8" name="Tecnología Base de datos"/>
          <p:cNvSpPr/>
          <p:nvPr/>
        </p:nvSpPr>
        <p:spPr>
          <a:xfrm>
            <a:off x="3264408" y="10972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9" name="Base de datos círculo"/>
          <p:cNvSpPr/>
          <p:nvPr/>
        </p:nvSpPr>
        <p:spPr>
          <a:xfrm>
            <a:off x="3447288" y="1280160"/>
            <a:ext cx="548640" cy="5486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10" name="Base de datos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417320"/>
            <a:ext cx="274320" cy="274320"/>
          </a:xfrm>
          <a:prstGeom prst="rect">
            <a:avLst/>
          </a:prstGeom>
        </p:spPr>
      </p:pic>
      <p:sp>
        <p:nvSpPr>
          <p:cNvPr id="11" name="Título Base de datos"/>
          <p:cNvSpPr txBox="1"/>
          <p:nvPr/>
        </p:nvSpPr>
        <p:spPr>
          <a:xfrm>
            <a:off x="4133088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2" name="Detalle Base de datos"/>
          <p:cNvSpPr txBox="1"/>
          <p:nvPr/>
        </p:nvSpPr>
        <p:spPr>
          <a:xfrm>
            <a:off x="3447288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23 tablas · restricciones, índices parciales y triggers</a:t>
            </a:r>
            <a:endParaRPr lang="en-US" sz="1200" dirty="0"/>
          </a:p>
        </p:txBody>
      </p:sp>
      <p:sp>
        <p:nvSpPr>
          <p:cNvPr id="13" name="Tecnología Panel de gestión"/>
          <p:cNvSpPr/>
          <p:nvPr/>
        </p:nvSpPr>
        <p:spPr>
          <a:xfrm>
            <a:off x="6071616" y="10972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4" name="Panel de gestión círculo"/>
          <p:cNvSpPr/>
          <p:nvPr/>
        </p:nvSpPr>
        <p:spPr>
          <a:xfrm>
            <a:off x="6254496" y="1280160"/>
            <a:ext cx="548640" cy="5486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15" name="Panel de gestión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417320"/>
            <a:ext cx="274320" cy="274320"/>
          </a:xfrm>
          <a:prstGeom prst="rect">
            <a:avLst/>
          </a:prstGeom>
        </p:spPr>
      </p:pic>
      <p:sp>
        <p:nvSpPr>
          <p:cNvPr id="16" name="Título Panel de gestión"/>
          <p:cNvSpPr txBox="1"/>
          <p:nvPr/>
        </p:nvSpPr>
        <p:spPr>
          <a:xfrm>
            <a:off x="6940296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</a:t>
            </a:r>
            <a:endParaRPr lang="en-US" sz="1500" dirty="0"/>
          </a:p>
        </p:txBody>
      </p:sp>
      <p:sp>
        <p:nvSpPr>
          <p:cNvPr id="17" name="Detalle Panel de gestión"/>
          <p:cNvSpPr txBox="1"/>
          <p:nvPr/>
        </p:nvSpPr>
        <p:spPr>
          <a:xfrm>
            <a:off x="6254496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React Router · TanStack Query · Tailwind CSS 4</a:t>
            </a:r>
            <a:endParaRPr lang="en-US" sz="1200" dirty="0"/>
          </a:p>
        </p:txBody>
      </p:sp>
      <p:sp>
        <p:nvSpPr>
          <p:cNvPr id="18" name="Tecnología Sitio público"/>
          <p:cNvSpPr/>
          <p:nvPr/>
        </p:nvSpPr>
        <p:spPr>
          <a:xfrm>
            <a:off x="457200" y="288036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19" name="Sitio público círculo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20" name="Sitio público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21" name="Título Sitio público"/>
          <p:cNvSpPr txBox="1"/>
          <p:nvPr/>
        </p:nvSpPr>
        <p:spPr>
          <a:xfrm>
            <a:off x="132588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</a:t>
            </a:r>
            <a:endParaRPr lang="en-US" sz="1500" dirty="0"/>
          </a:p>
        </p:txBody>
      </p:sp>
      <p:sp>
        <p:nvSpPr>
          <p:cNvPr id="22" name="Detalle Sitio público"/>
          <p:cNvSpPr txBox="1"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 · renderizado en servidor · subdominios · SEO</a:t>
            </a:r>
            <a:endParaRPr lang="en-US" sz="1200" dirty="0"/>
          </a:p>
        </p:txBody>
      </p:sp>
      <p:sp>
        <p:nvSpPr>
          <p:cNvPr id="23" name="Tecnología Servicios"/>
          <p:cNvSpPr/>
          <p:nvPr/>
        </p:nvSpPr>
        <p:spPr>
          <a:xfrm>
            <a:off x="3264408" y="288036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24" name="Servicios círculo"/>
          <p:cNvSpPr/>
          <p:nvPr/>
        </p:nvSpPr>
        <p:spPr>
          <a:xfrm>
            <a:off x="3447288" y="3063240"/>
            <a:ext cx="548640" cy="5486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25" name="Servicios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200400"/>
            <a:ext cx="274320" cy="274320"/>
          </a:xfrm>
          <a:prstGeom prst="rect">
            <a:avLst/>
          </a:prstGeom>
        </p:spPr>
      </p:pic>
      <p:sp>
        <p:nvSpPr>
          <p:cNvPr id="26" name="Título Servicios"/>
          <p:cNvSpPr txBox="1"/>
          <p:nvPr/>
        </p:nvSpPr>
        <p:spPr>
          <a:xfrm>
            <a:off x="4133088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500" dirty="0"/>
          </a:p>
        </p:txBody>
      </p:sp>
      <p:sp>
        <p:nvSpPr>
          <p:cNvPr id="27" name="Detalle Servicios"/>
          <p:cNvSpPr txBox="1"/>
          <p:nvPr/>
        </p:nvSpPr>
        <p:spPr>
          <a:xfrm>
            <a:off x="3447288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@react-pdf/renderer · Resend + react-email · sharp (fotos WebP)</a:t>
            </a:r>
            <a:endParaRPr lang="en-US" sz="1200" dirty="0"/>
          </a:p>
        </p:txBody>
      </p:sp>
      <p:sp>
        <p:nvSpPr>
          <p:cNvPr id="28" name="Tecnología Infraestructura"/>
          <p:cNvSpPr/>
          <p:nvPr/>
        </p:nvSpPr>
        <p:spPr>
          <a:xfrm>
            <a:off x="6071616" y="288036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E">
                <a:alpha val="25000"/>
              </a:srgbClr>
            </a:outerShdw>
          </a:effectLst>
        </p:spPr>
      </p:sp>
      <p:sp>
        <p:nvSpPr>
          <p:cNvPr id="29" name="Infraestructura círculo"/>
          <p:cNvSpPr/>
          <p:nvPr/>
        </p:nvSpPr>
        <p:spPr>
          <a:xfrm>
            <a:off x="6254496" y="3063240"/>
            <a:ext cx="548640" cy="548640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30" name="Infraestructura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200400"/>
            <a:ext cx="274320" cy="274320"/>
          </a:xfrm>
          <a:prstGeom prst="rect">
            <a:avLst/>
          </a:prstGeom>
        </p:spPr>
      </p:pic>
      <p:sp>
        <p:nvSpPr>
          <p:cNvPr id="31" name="Título Infraestructura"/>
          <p:cNvSpPr txBox="1"/>
          <p:nvPr/>
        </p:nvSpPr>
        <p:spPr>
          <a:xfrm>
            <a:off x="6940296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500" dirty="0"/>
          </a:p>
        </p:txBody>
      </p:sp>
      <p:sp>
        <p:nvSpPr>
          <p:cNvPr id="32" name="Detalle Infraestructura"/>
          <p:cNvSpPr txBox="1"/>
          <p:nvPr/>
        </p:nvSpPr>
        <p:spPr>
          <a:xfrm>
            <a:off x="6254496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Caddy · Cloudflare · Hetzner Cloud · GitHub Actions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</a:t>
            </a:r>
            <a:endParaRPr lang="en-US" sz="3200" dirty="0"/>
          </a:p>
        </p:txBody>
      </p:sp>
      <p:sp>
        <p:nvSpPr>
          <p:cNvPr id="3" name="Semana 1"/>
          <p:cNvSpPr txBox="1"/>
          <p:nvPr/>
        </p:nvSpPr>
        <p:spPr>
          <a:xfrm>
            <a:off x="3154680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4" name="Semana 2"/>
          <p:cNvSpPr txBox="1"/>
          <p:nvPr/>
        </p:nvSpPr>
        <p:spPr>
          <a:xfrm>
            <a:off x="3549831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5" name="Semana 3"/>
          <p:cNvSpPr txBox="1"/>
          <p:nvPr/>
        </p:nvSpPr>
        <p:spPr>
          <a:xfrm>
            <a:off x="3944983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6" name="Semana 4"/>
          <p:cNvSpPr txBox="1"/>
          <p:nvPr/>
        </p:nvSpPr>
        <p:spPr>
          <a:xfrm>
            <a:off x="4340134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7" name="Semana 5"/>
          <p:cNvSpPr txBox="1"/>
          <p:nvPr/>
        </p:nvSpPr>
        <p:spPr>
          <a:xfrm>
            <a:off x="4735286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8" name="Semana 6"/>
          <p:cNvSpPr txBox="1"/>
          <p:nvPr/>
        </p:nvSpPr>
        <p:spPr>
          <a:xfrm>
            <a:off x="5130437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9" name="Semana 7"/>
          <p:cNvSpPr txBox="1"/>
          <p:nvPr/>
        </p:nvSpPr>
        <p:spPr>
          <a:xfrm>
            <a:off x="5525589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10" name="Semana 8"/>
          <p:cNvSpPr txBox="1"/>
          <p:nvPr/>
        </p:nvSpPr>
        <p:spPr>
          <a:xfrm>
            <a:off x="5920740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00" dirty="0"/>
          </a:p>
        </p:txBody>
      </p:sp>
      <p:sp>
        <p:nvSpPr>
          <p:cNvPr id="11" name="Semana 9"/>
          <p:cNvSpPr txBox="1"/>
          <p:nvPr/>
        </p:nvSpPr>
        <p:spPr>
          <a:xfrm>
            <a:off x="6315891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000" dirty="0"/>
          </a:p>
        </p:txBody>
      </p:sp>
      <p:sp>
        <p:nvSpPr>
          <p:cNvPr id="12" name="Semana 10"/>
          <p:cNvSpPr txBox="1"/>
          <p:nvPr/>
        </p:nvSpPr>
        <p:spPr>
          <a:xfrm>
            <a:off x="6711043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000" dirty="0"/>
          </a:p>
        </p:txBody>
      </p:sp>
      <p:sp>
        <p:nvSpPr>
          <p:cNvPr id="13" name="Semana 11"/>
          <p:cNvSpPr txBox="1"/>
          <p:nvPr/>
        </p:nvSpPr>
        <p:spPr>
          <a:xfrm>
            <a:off x="7106194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1000" dirty="0"/>
          </a:p>
        </p:txBody>
      </p:sp>
      <p:sp>
        <p:nvSpPr>
          <p:cNvPr id="14" name="Semana 12"/>
          <p:cNvSpPr txBox="1"/>
          <p:nvPr/>
        </p:nvSpPr>
        <p:spPr>
          <a:xfrm>
            <a:off x="7501346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000" dirty="0"/>
          </a:p>
        </p:txBody>
      </p:sp>
      <p:sp>
        <p:nvSpPr>
          <p:cNvPr id="15" name="Semana 13"/>
          <p:cNvSpPr txBox="1"/>
          <p:nvPr/>
        </p:nvSpPr>
        <p:spPr>
          <a:xfrm>
            <a:off x="7896497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1000" dirty="0"/>
          </a:p>
        </p:txBody>
      </p:sp>
      <p:sp>
        <p:nvSpPr>
          <p:cNvPr id="16" name="Semana 14"/>
          <p:cNvSpPr txBox="1"/>
          <p:nvPr/>
        </p:nvSpPr>
        <p:spPr>
          <a:xfrm>
            <a:off x="8291649" y="1051560"/>
            <a:ext cx="39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1000" dirty="0"/>
          </a:p>
        </p:txBody>
      </p:sp>
      <p:sp>
        <p:nvSpPr>
          <p:cNvPr id="17" name="Fondo fila 1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8" name="Actividad 1"/>
          <p:cNvSpPr txBox="1"/>
          <p:nvPr/>
        </p:nvSpPr>
        <p:spPr>
          <a:xfrm>
            <a:off x="530352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Análisis y requisitos</a:t>
            </a:r>
            <a:endParaRPr lang="en-US" sz="1200" dirty="0"/>
          </a:p>
        </p:txBody>
      </p:sp>
      <p:sp>
        <p:nvSpPr>
          <p:cNvPr id="19" name="Barra 1"/>
          <p:cNvSpPr/>
          <p:nvPr/>
        </p:nvSpPr>
        <p:spPr>
          <a:xfrm>
            <a:off x="3182112" y="1435608"/>
            <a:ext cx="735439" cy="219456"/>
          </a:xfrm>
          <a:prstGeom prst="roundRect">
            <a:avLst>
              <a:gd name="adj" fmla="val 20833"/>
            </a:avLst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0" name="Actividad 2"/>
          <p:cNvSpPr txBox="1"/>
          <p:nvPr/>
        </p:nvSpPr>
        <p:spPr>
          <a:xfrm>
            <a:off x="530352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Diseño</a:t>
            </a:r>
            <a:endParaRPr lang="en-US" sz="1200" dirty="0"/>
          </a:p>
        </p:txBody>
      </p:sp>
      <p:sp>
        <p:nvSpPr>
          <p:cNvPr id="21" name="Barra 2"/>
          <p:cNvSpPr/>
          <p:nvPr/>
        </p:nvSpPr>
        <p:spPr>
          <a:xfrm>
            <a:off x="3972415" y="1783080"/>
            <a:ext cx="735439" cy="219456"/>
          </a:xfrm>
          <a:prstGeom prst="roundRect">
            <a:avLst>
              <a:gd name="adj" fmla="val 20833"/>
            </a:avLst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2" name="Fondo fila 3"/>
          <p:cNvSpPr/>
          <p:nvPr/>
        </p:nvSpPr>
        <p:spPr>
          <a:xfrm>
            <a:off x="457200" y="2066544"/>
            <a:ext cx="8229600" cy="347472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3" name="Actividad 3"/>
          <p:cNvSpPr txBox="1"/>
          <p:nvPr/>
        </p:nvSpPr>
        <p:spPr>
          <a:xfrm>
            <a:off x="530352" y="2066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3.1: API</a:t>
            </a:r>
            <a:endParaRPr lang="en-US" sz="1200" dirty="0"/>
          </a:p>
        </p:txBody>
      </p:sp>
      <p:sp>
        <p:nvSpPr>
          <p:cNvPr id="24" name="Barra 3"/>
          <p:cNvSpPr/>
          <p:nvPr/>
        </p:nvSpPr>
        <p:spPr>
          <a:xfrm>
            <a:off x="4762718" y="2130552"/>
            <a:ext cx="735439" cy="219456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Actividad 4"/>
          <p:cNvSpPr txBox="1"/>
          <p:nvPr/>
        </p:nvSpPr>
        <p:spPr>
          <a:xfrm>
            <a:off x="530352" y="2414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3.2: Panel de gestión</a:t>
            </a:r>
            <a:endParaRPr lang="en-US" sz="1200" dirty="0"/>
          </a:p>
        </p:txBody>
      </p:sp>
      <p:sp>
        <p:nvSpPr>
          <p:cNvPr id="26" name="Barra 4"/>
          <p:cNvSpPr/>
          <p:nvPr/>
        </p:nvSpPr>
        <p:spPr>
          <a:xfrm>
            <a:off x="5553021" y="2478024"/>
            <a:ext cx="340287" cy="219456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Fondo fila 5"/>
          <p:cNvSpPr/>
          <p:nvPr/>
        </p:nvSpPr>
        <p:spPr>
          <a:xfrm>
            <a:off x="457200" y="2761488"/>
            <a:ext cx="8229600" cy="347472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8" name="Actividad 5"/>
          <p:cNvSpPr txBox="1"/>
          <p:nvPr/>
        </p:nvSpPr>
        <p:spPr>
          <a:xfrm>
            <a:off x="530352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3.3: Analítica y sitio público</a:t>
            </a:r>
            <a:endParaRPr lang="en-US" sz="1200" dirty="0"/>
          </a:p>
        </p:txBody>
      </p:sp>
      <p:sp>
        <p:nvSpPr>
          <p:cNvPr id="29" name="Barra 5"/>
          <p:cNvSpPr/>
          <p:nvPr/>
        </p:nvSpPr>
        <p:spPr>
          <a:xfrm>
            <a:off x="5948172" y="2825496"/>
            <a:ext cx="340287" cy="219456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Actividad 6"/>
          <p:cNvSpPr txBox="1"/>
          <p:nvPr/>
        </p:nvSpPr>
        <p:spPr>
          <a:xfrm>
            <a:off x="530352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Pruebas y certificación</a:t>
            </a:r>
            <a:endParaRPr lang="en-US" sz="1200" dirty="0"/>
          </a:p>
        </p:txBody>
      </p:sp>
      <p:sp>
        <p:nvSpPr>
          <p:cNvPr id="31" name="Barra 6"/>
          <p:cNvSpPr/>
          <p:nvPr/>
        </p:nvSpPr>
        <p:spPr>
          <a:xfrm>
            <a:off x="6343323" y="3172968"/>
            <a:ext cx="735439" cy="219456"/>
          </a:xfrm>
          <a:prstGeom prst="roundRect">
            <a:avLst>
              <a:gd name="adj" fmla="val 20833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32" name="Fondo fila 7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3" name="Actividad 7"/>
          <p:cNvSpPr txBox="1"/>
          <p:nvPr/>
        </p:nvSpPr>
        <p:spPr>
          <a:xfrm>
            <a:off x="530352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5.1: Despliegue</a:t>
            </a:r>
            <a:endParaRPr lang="en-US" sz="1200" dirty="0"/>
          </a:p>
        </p:txBody>
      </p:sp>
      <p:sp>
        <p:nvSpPr>
          <p:cNvPr id="34" name="Barra 7"/>
          <p:cNvSpPr/>
          <p:nvPr/>
        </p:nvSpPr>
        <p:spPr>
          <a:xfrm>
            <a:off x="7133626" y="3520440"/>
            <a:ext cx="735439" cy="219456"/>
          </a:xfrm>
          <a:prstGeom prst="roundRect">
            <a:avLst>
              <a:gd name="adj" fmla="val 20833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35" name="Actividad 8"/>
          <p:cNvSpPr txBox="1"/>
          <p:nvPr/>
        </p:nvSpPr>
        <p:spPr>
          <a:xfrm>
            <a:off x="530352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5.2: Manuales y cierre</a:t>
            </a:r>
            <a:endParaRPr lang="en-US" sz="1200" dirty="0"/>
          </a:p>
        </p:txBody>
      </p:sp>
      <p:sp>
        <p:nvSpPr>
          <p:cNvPr id="36" name="Barra 8"/>
          <p:cNvSpPr/>
          <p:nvPr/>
        </p:nvSpPr>
        <p:spPr>
          <a:xfrm>
            <a:off x="7923929" y="3867912"/>
            <a:ext cx="735439" cy="219456"/>
          </a:xfrm>
          <a:prstGeom prst="roundRect">
            <a:avLst>
              <a:gd name="adj" fmla="val 20833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37" name="Leyenda Completada"/>
          <p:cNvSpPr/>
          <p:nvPr/>
        </p:nvSpPr>
        <p:spPr>
          <a:xfrm>
            <a:off x="457200" y="434340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8" name="Texto leyenda Completada"/>
          <p:cNvSpPr txBox="1"/>
          <p:nvPr/>
        </p:nvSpPr>
        <p:spPr>
          <a:xfrm>
            <a:off x="82296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200" dirty="0"/>
          </a:p>
        </p:txBody>
      </p:sp>
      <p:sp>
        <p:nvSpPr>
          <p:cNvPr id="39" name="Leyenda En curso"/>
          <p:cNvSpPr/>
          <p:nvPr/>
        </p:nvSpPr>
        <p:spPr>
          <a:xfrm>
            <a:off x="2194560" y="434340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0" name="Texto leyenda En curso"/>
          <p:cNvSpPr txBox="1"/>
          <p:nvPr/>
        </p:nvSpPr>
        <p:spPr>
          <a:xfrm>
            <a:off x="25603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200" dirty="0"/>
          </a:p>
        </p:txBody>
      </p:sp>
      <p:sp>
        <p:nvSpPr>
          <p:cNvPr id="41" name="Leyenda Planificada"/>
          <p:cNvSpPr/>
          <p:nvPr/>
        </p:nvSpPr>
        <p:spPr>
          <a:xfrm>
            <a:off x="3931920" y="434340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3B6E8F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42" name="Texto leyenda Planificada"/>
          <p:cNvSpPr txBox="1"/>
          <p:nvPr/>
        </p:nvSpPr>
        <p:spPr>
          <a:xfrm>
            <a:off x="42976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Planificada</a:t>
            </a:r>
            <a:endParaRPr lang="en-US" sz="1200" dirty="0"/>
          </a:p>
        </p:txBody>
      </p:sp>
      <p:sp>
        <p:nvSpPr>
          <p:cNvPr id="43" name="Rango fechas"/>
          <p:cNvSpPr txBox="1"/>
          <p:nvPr/>
        </p:nvSpPr>
        <p:spPr>
          <a:xfrm>
            <a:off x="530352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ago – 4 dic 2026 · entrega antes del 7 de diciembre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3" name="Una sola plataforma círculo"/>
          <p:cNvSpPr/>
          <p:nvPr/>
        </p:nvSpPr>
        <p:spPr>
          <a:xfrm>
            <a:off x="457200" y="132588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4" name="Una sola platafor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520190"/>
            <a:ext cx="388620" cy="388620"/>
          </a:xfrm>
          <a:prstGeom prst="rect">
            <a:avLst/>
          </a:prstGeom>
        </p:spPr>
      </p:pic>
      <p:sp>
        <p:nvSpPr>
          <p:cNvPr id="5" name="Título conclusión 1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plataforma</a:t>
            </a:r>
            <a:endParaRPr lang="en-US" sz="1800" dirty="0"/>
          </a:p>
        </p:txBody>
      </p:sp>
      <p:sp>
        <p:nvSpPr>
          <p:cNvPr id="6" name="Texto conclusión 1"/>
          <p:cNvSpPr txBox="1"/>
          <p:nvPr/>
        </p:nvSpPr>
        <p:spPr>
          <a:xfrm>
            <a:off x="457200" y="2788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interna, vitrina propia y marketplace alimentados por un inventario cargado una vez.</a:t>
            </a:r>
            <a:endParaRPr lang="en-US" sz="1300" dirty="0"/>
          </a:p>
        </p:txBody>
      </p:sp>
      <p:sp>
        <p:nvSpPr>
          <p:cNvPr id="7" name="Técnicamente sólida círculo"/>
          <p:cNvSpPr/>
          <p:nvPr/>
        </p:nvSpPr>
        <p:spPr>
          <a:xfrm>
            <a:off x="3264408" y="132588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8" name="Técnicamente sólida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718" y="1520190"/>
            <a:ext cx="388620" cy="388620"/>
          </a:xfrm>
          <a:prstGeom prst="rect">
            <a:avLst/>
          </a:prstGeom>
        </p:spPr>
      </p:pic>
      <p:sp>
        <p:nvSpPr>
          <p:cNvPr id="9" name="Título conclusión 2"/>
          <p:cNvSpPr txBox="1"/>
          <p:nvPr/>
        </p:nvSpPr>
        <p:spPr>
          <a:xfrm>
            <a:off x="3264408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Técnicamente sólida</a:t>
            </a:r>
            <a:endParaRPr lang="en-US" sz="1800" dirty="0"/>
          </a:p>
        </p:txBody>
      </p:sp>
      <p:sp>
        <p:nvSpPr>
          <p:cNvPr id="10" name="Texto conclusión 2"/>
          <p:cNvSpPr txBox="1"/>
          <p:nvPr/>
        </p:nvSpPr>
        <p:spPr>
          <a:xfrm>
            <a:off x="3264408" y="2788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Multi-empresa con aislamiento de datos, transacciones consistentes y seguridad por capas.</a:t>
            </a:r>
            <a:endParaRPr lang="en-US" sz="1300" dirty="0"/>
          </a:p>
        </p:txBody>
      </p:sp>
      <p:sp>
        <p:nvSpPr>
          <p:cNvPr id="11" name="Factible en plazo círculo"/>
          <p:cNvSpPr/>
          <p:nvPr/>
        </p:nvSpPr>
        <p:spPr>
          <a:xfrm>
            <a:off x="6071616" y="132588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Factible en plaz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926" y="1520190"/>
            <a:ext cx="388620" cy="388620"/>
          </a:xfrm>
          <a:prstGeom prst="rect">
            <a:avLst/>
          </a:prstGeom>
        </p:spPr>
      </p:pic>
      <p:sp>
        <p:nvSpPr>
          <p:cNvPr id="13" name="Título conclusión 3"/>
          <p:cNvSpPr txBox="1"/>
          <p:nvPr/>
        </p:nvSpPr>
        <p:spPr>
          <a:xfrm>
            <a:off x="6071616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Factible en plazo</a:t>
            </a:r>
            <a:endParaRPr lang="en-US" sz="1800" dirty="0"/>
          </a:p>
        </p:txBody>
      </p:sp>
      <p:sp>
        <p:nvSpPr>
          <p:cNvPr id="14" name="Texto conclusión 3"/>
          <p:cNvSpPr txBox="1"/>
          <p:nvPr/>
        </p:nvSpPr>
        <p:spPr>
          <a:xfrm>
            <a:off x="6071616" y="2788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en desarrollo, 163 pruebas y operación desde 11 a 15 dólares al mes.</a:t>
            </a:r>
            <a:endParaRPr lang="en-US" sz="1300" dirty="0"/>
          </a:p>
        </p:txBody>
      </p:sp>
      <p:sp>
        <p:nvSpPr>
          <p:cNvPr id="15" name="Agradecimiento"/>
          <p:cNvSpPr txBox="1"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Joaquín Cabrera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en">
  <a:themeElements>
    <a:clrScheme name="Arken">
      <a:dk1>
        <a:srgbClr val="1B1F24"/>
      </a:dk1>
      <a:lt1>
        <a:srgbClr val="FFFFFF"/>
      </a:lt1>
      <a:dk2>
        <a:srgbClr val="22303C"/>
      </a:dk2>
      <a:lt2>
        <a:srgbClr val="F1F3F5"/>
      </a:lt2>
      <a:accent1>
        <a:srgbClr val="E8A33D"/>
      </a:accent1>
      <a:accent2>
        <a:srgbClr val="3B6E8F"/>
      </a:accent2>
      <a:accent3>
        <a:srgbClr val="5E7A8C"/>
      </a:accent3>
      <a:accent4>
        <a:srgbClr val="C9D3DB"/>
      </a:accent4>
      <a:accent5>
        <a:srgbClr val="2E8B57"/>
      </a:accent5>
      <a:accent6>
        <a:srgbClr val="B5483B"/>
      </a:accent6>
      <a:hlink>
        <a:srgbClr val="3B6E8F"/>
      </a:hlink>
      <a:folHlink>
        <a:srgbClr val="5E7A8C"/>
      </a:folHlink>
    </a:clrScheme>
    <a:fontScheme name="Ark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Arken — Presentación Fase 1</dc:title>
  <dc:subject>PptxGenJS Presentation</dc:subject>
  <dc:creator>Joaquín Cabrera</dc:creator>
  <cp:lastModifiedBy>Joaquín Cabrera</cp:lastModifiedBy>
  <cp:revision>1</cp:revision>
  <dcterms:created xsi:type="dcterms:W3CDTF">2026-10-06T04:35:16Z</dcterms:created>
  <dcterms:modified xsi:type="dcterms:W3CDTF">2026-10-06T04:35:16Z</dcterms:modified>
</cp:coreProperties>
</file>